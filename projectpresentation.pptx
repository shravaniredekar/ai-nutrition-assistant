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7" r:id="rId10"/>
    <p:sldId id="268" r:id="rId11"/>
    <p:sldId id="269" r:id="rId12"/>
    <p:sldId id="270" r:id="rId13"/>
    <p:sldId id="271" r:id="rId14"/>
    <p:sldId id="279" r:id="rId15"/>
    <p:sldId id="273" r:id="rId16"/>
    <p:sldId id="274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3926F-10EB-4760-B207-D7E8C0283A9E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31CBA-6BCA-4ADE-A20D-CAEC8BAD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74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31CBA-6BCA-4ADE-A20D-CAEC8BADF82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19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31CBA-6BCA-4ADE-A20D-CAEC8BADF8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77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31CBA-6BCA-4ADE-A20D-CAEC8BADF8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6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72CA-CE5D-740B-A165-30E436E12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0E746-207E-F3AB-0E26-B8D58F9B6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0CBF8-179A-42B2-41EE-9AC857A3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19313-43A5-AF84-EE31-4F6F558C9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1ECBA-53D7-21A8-7CB4-18E293DB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0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1ACE-BE9A-5D6C-FD03-06B773CE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482AB-7C8B-4A4D-1D1C-F53CC0BED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887B0-A86D-933D-E2D8-1C983EAA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B6A6F-C93A-6947-D490-BF26C5FC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EE136-E6F7-0920-7F80-651325085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9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01C7-C336-2FF6-1E5F-61ACD6077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35535-EA04-B924-D4DB-49A87617D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AA870-CB73-B1F7-B659-702A4448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1CB7E-8A62-4DF6-E6CE-DD9D9446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A27D2-4CF5-1FBC-0BB4-E1ACD762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39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5048-62F5-DE28-FA62-9C4E0935C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EF04F-B345-E59E-B8C9-1559F5B6F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B4152-5BAA-E18C-A067-C0EDF9952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82C7C-B87F-0158-AD8A-D95A9857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8CBA6-C646-12AE-583E-4AE6520B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081C5E-AB73-1A30-B05B-68E1627C6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98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87AE-E041-7B5F-266C-C1D058E0B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FAE34-2601-D427-96AD-A6B8D4328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1DA8E-469F-E771-452B-F230A4E05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67B2B-4B01-7C27-0609-04BC08827A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149754-3CE3-B0DE-83D8-981B4F167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65DC5-812B-D8D4-ECCB-2E56D0BE2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81A36-BE9A-7247-0811-14B266CEB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142552-3116-3B2E-B4AA-84B2B9084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0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EF1C-AF6A-793A-095C-6F35FAADD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6444B-2290-CD0D-8A43-54D65D1FE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CF1FE-0D73-9E2A-E8E2-0094E8042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F82A1B-E6CB-D4C1-46AA-B629EBA5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9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723BD-D112-430E-E555-4FA948F31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FDE27-9DBC-1E09-EA2D-8E576CCD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70AC2-E3BA-D340-E024-3517EFF7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7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4D42-7141-ACD2-ECBF-6CCE82985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9403F-17E8-DC71-7109-2E459B15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4E4DA-F1FE-8E2A-C6EC-B2F684187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65584-08F0-8D00-2878-38F540BB9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FDF26-B987-9001-58D5-3507BC995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F2430-E14E-1315-BCD6-CA82EF88B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61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F39DD-8E9B-9508-892D-CA859B462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83A91-98E3-4F42-EFC6-15EA12A49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93061-22B1-3897-9CB2-B40BE7D31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2DA0A-9432-0110-0460-BAB7131D5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551D2-29F7-2B31-2761-8C3324F4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40009-A1F9-AA33-4F9E-ED18F068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6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F0F8-196B-4386-A146-5CFA13B4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544C4-DAD7-2D56-C878-EB99AD3DE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88374-9617-7608-CEE5-77AE04CD9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E01A2-726A-B1DF-E684-31978233E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A4BF2-5D20-B0DB-B989-8FFAC3CB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4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7D1AF7-E7DC-F958-C241-DE2B88D9FB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0746D-A74C-B3F3-49AA-6567E1C99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EB35A-C3C4-C13F-1A66-DC5443FE7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F02AE-97BD-3D75-871B-2021429C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339D2-CA4A-0C29-480A-8AD98983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312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5ABDD-10DB-6AD2-944F-0B76DB7B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9B40E-C931-E855-CBA6-1E33520AF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222E2-4B5F-DAC3-872A-901FE963B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DA0FD-38EB-4FF1-83CA-9AF7BC3FA09C}" type="datetimeFigureOut">
              <a:rPr lang="en-US" smtClean="0"/>
              <a:t>11-Sep-26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BB5C7-2271-B07D-AC2A-2E971F3B0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9B36D-BBC2-0DA3-438B-3101BA438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363A1-5928-4B12-8C77-525955421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70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ravaniredekar/AI-Nutrition-Assistant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6DAA-2CFB-9D38-3CB4-54421F083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933" y="16811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IBM University Engagement Project Submission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2FF1B-D638-69C1-F98A-53690D95B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3934" y="3521075"/>
            <a:ext cx="9364133" cy="1655762"/>
          </a:xfrm>
        </p:spPr>
        <p:txBody>
          <a:bodyPr/>
          <a:lstStyle/>
          <a:p>
            <a:r>
              <a:rPr lang="en-US" sz="20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“Exploring the Power of Agentic AI with IBM Granite and IBM Bob”</a:t>
            </a:r>
            <a:endParaRPr lang="en-US" sz="2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24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0A1E16-124F-6434-3256-2694783BBE05}"/>
              </a:ext>
            </a:extLst>
          </p:cNvPr>
          <p:cNvSpPr txBox="1"/>
          <p:nvPr/>
        </p:nvSpPr>
        <p:spPr>
          <a:xfrm>
            <a:off x="514883" y="360679"/>
            <a:ext cx="106643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title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Smart AI Nutrition Assistant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Domain of Project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/ Generative AI &amp; Healthcare Technologies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69AAE4-626F-6DBB-C490-2E6ED9A31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461516"/>
              </p:ext>
            </p:extLst>
          </p:nvPr>
        </p:nvGraphicFramePr>
        <p:xfrm>
          <a:off x="582614" y="2090417"/>
          <a:ext cx="10809288" cy="3909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2322">
                  <a:extLst>
                    <a:ext uri="{9D8B030D-6E8A-4147-A177-3AD203B41FA5}">
                      <a16:colId xmlns:a16="http://schemas.microsoft.com/office/drawing/2014/main" val="319468385"/>
                    </a:ext>
                  </a:extLst>
                </a:gridCol>
                <a:gridCol w="2702322">
                  <a:extLst>
                    <a:ext uri="{9D8B030D-6E8A-4147-A177-3AD203B41FA5}">
                      <a16:colId xmlns:a16="http://schemas.microsoft.com/office/drawing/2014/main" val="3028046711"/>
                    </a:ext>
                  </a:extLst>
                </a:gridCol>
                <a:gridCol w="2702322">
                  <a:extLst>
                    <a:ext uri="{9D8B030D-6E8A-4147-A177-3AD203B41FA5}">
                      <a16:colId xmlns:a16="http://schemas.microsoft.com/office/drawing/2014/main" val="1225512336"/>
                    </a:ext>
                  </a:extLst>
                </a:gridCol>
                <a:gridCol w="2702322">
                  <a:extLst>
                    <a:ext uri="{9D8B030D-6E8A-4147-A177-3AD203B41FA5}">
                      <a16:colId xmlns:a16="http://schemas.microsoft.com/office/drawing/2014/main" val="3807420697"/>
                    </a:ext>
                  </a:extLst>
                </a:gridCol>
              </a:tblGrid>
              <a:tr h="161418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Recent Passport Photo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Mobile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72212"/>
                  </a:ext>
                </a:extLst>
              </a:tr>
              <a:tr h="229572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Shravani Nitin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Redekar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shravaniredekar47@gmail.com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8767557167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25225"/>
                  </a:ext>
                </a:extLst>
              </a:tr>
            </a:tbl>
          </a:graphicData>
        </a:graphic>
      </p:graphicFrame>
      <p:pic>
        <p:nvPicPr>
          <p:cNvPr id="10" name="Picture 9" descr="A person dressed in a formal suit and tie, with neatly braided hair.&#10;&#10;AI-generated content may be incorrect.">
            <a:extLst>
              <a:ext uri="{FF2B5EF4-FFF2-40B4-BE49-F238E27FC236}">
                <a16:creationId xmlns:a16="http://schemas.microsoft.com/office/drawing/2014/main" id="{4E8BB2B0-A5D8-4610-0925-5E2BE826E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2135" y="3786292"/>
            <a:ext cx="1753098" cy="210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84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07FFFA-99D7-717F-0580-F90E67BF0BE0}"/>
              </a:ext>
            </a:extLst>
          </p:cNvPr>
          <p:cNvSpPr txBox="1"/>
          <p:nvPr/>
        </p:nvSpPr>
        <p:spPr>
          <a:xfrm>
            <a:off x="295910" y="251609"/>
            <a:ext cx="34495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Problem Statement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5DD14-303A-5826-BDF5-0581043F081A}"/>
              </a:ext>
            </a:extLst>
          </p:cNvPr>
          <p:cNvSpPr txBox="1"/>
          <p:nvPr/>
        </p:nvSpPr>
        <p:spPr>
          <a:xfrm>
            <a:off x="295910" y="774829"/>
            <a:ext cx="401199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Problem Statement: Nutrition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9CAE77-3540-E1FA-143C-45ED26F3A71C}"/>
              </a:ext>
            </a:extLst>
          </p:cNvPr>
          <p:cNvSpPr txBox="1"/>
          <p:nvPr/>
        </p:nvSpPr>
        <p:spPr>
          <a:xfrm>
            <a:off x="295910" y="1159550"/>
            <a:ext cx="118328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The Challenge: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Achieving optimal health depends heavily on proper nutrition, yet people constantly face hurdles with structured meal planning, accurate portion estimation, and daily intake tracking. Reliable nutritional data, condition-specific dietary guidelines, and food breakdown metrics are fragmented across unverified sources. Lacking real-time, personalized direction, individuals frequently struggle to adopt balanced eating habits or select foods aligned with their health needs.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5ECFB-F0FD-013A-EC19-3EAEE81DAE0D}"/>
              </a:ext>
            </a:extLst>
          </p:cNvPr>
          <p:cNvSpPr txBox="1"/>
          <p:nvPr/>
        </p:nvSpPr>
        <p:spPr>
          <a:xfrm>
            <a:off x="295910" y="2636878"/>
            <a:ext cx="11600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The Objective: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Develop </a:t>
            </a:r>
            <a:r>
              <a:rPr lang="en-US" sz="175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, an intelligent, multi-agent AI framework that offers personalized, real-time dietary recommendations and nutritional tracking for individuals, households, and healthcare practitioners. Powered by IBM watsonx.ai and a Retrieval-Augmented Generation (RAG) architecture, the system achieves five key milestones: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Customized Meal Generation: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Synthesizes user profile data—such as age, medical background, food sensitivities, regional cuisine choices, and physical targets—to build targeted meal plans.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Vector-Search Data Retrieval: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Queries indexed nutritional knowledge bases via a FAISS vector store to extract precise macro- and micro-nutrient profiles (calories, protein, fats, vitamins).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Interactive Meal Logging: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Enables users to submit text-based food logs and receive real-time nutritional breakdowns alongside actionable improvement advice.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Condition-Targeted Preventive Care: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Delivers evidence-based nutritional strategies for managing long-term health concerns, including diabetes, hypertension, and cardiovascular health.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750" b="1" dirty="0">
                <a:latin typeface="Arial" panose="020B0604020202020204" pitchFamily="34" charset="0"/>
                <a:cs typeface="Arial" panose="020B0604020202020204" pitchFamily="34" charset="0"/>
              </a:rPr>
              <a:t>Specialized Multi-Agent Workflow:</a:t>
            </a:r>
            <a:r>
              <a:rPr lang="en-US" sz="1750" dirty="0">
                <a:latin typeface="Arial" panose="020B0604020202020204" pitchFamily="34" charset="0"/>
                <a:cs typeface="Arial" panose="020B0604020202020204" pitchFamily="34" charset="0"/>
              </a:rPr>
              <a:t> Coordinates four distinct intelligent agents—Knowledge Agent, Diet Recommendation Agent, Health Advisory Agent, and Food Log Agent—to provide a comprehensive, end-to-end nutrition assistant.</a:t>
            </a:r>
          </a:p>
        </p:txBody>
      </p:sp>
    </p:spTree>
    <p:extLst>
      <p:ext uri="{BB962C8B-B14F-4D97-AF65-F5344CB8AC3E}">
        <p14:creationId xmlns:p14="http://schemas.microsoft.com/office/powerpoint/2010/main" val="2923314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17ACE-BC30-16B4-D6F8-B4E07B876185}"/>
              </a:ext>
            </a:extLst>
          </p:cNvPr>
          <p:cNvSpPr txBox="1"/>
          <p:nvPr/>
        </p:nvSpPr>
        <p:spPr>
          <a:xfrm>
            <a:off x="330199" y="177801"/>
            <a:ext cx="3443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Proposed Solution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3B8A3-7197-286A-F243-AE23B59334D9}"/>
              </a:ext>
            </a:extLst>
          </p:cNvPr>
          <p:cNvSpPr txBox="1"/>
          <p:nvPr/>
        </p:nvSpPr>
        <p:spPr>
          <a:xfrm>
            <a:off x="330199" y="701021"/>
            <a:ext cx="11426975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Proposed Solution: Smart AI Nutrition Assistant (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To tackle scattered dietary data and ineffective meal planning, this project delivers </a:t>
            </a:r>
            <a:r>
              <a:rPr lang="en-US" sz="170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—a multi-agent AI system developed with Python, Flask, and IBM watsonx.ai running IBM Granite 3 8B Instruct. The application provides an intelligent, automated framework that transforms complex nutritional information into real-time, actionable health advice. Central to the architecture is a Retrieval-Augmented Generation (RAG) workflow built with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and a FAISS vector database. By indexing verified food and dietary datasets,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retrieves exact nutritional breakdowns (macronutrients, calories, essential vitamins) and uses Granite models to summarize them accurately without factual hallucination. The application is orchestrated across four specialized AI agents:</a:t>
            </a:r>
          </a:p>
          <a:p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Nutrition Knowledge Agent: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Performs semantic search across the FAISS vector database to answer queries regarding nutritional facts, food compositions, and dietary guidelines.</a:t>
            </a:r>
          </a:p>
          <a:p>
            <a:pPr lvl="0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Diet Recommendation Agent: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Synthesizes user profile parameters—including age, wellness goals, dietary restrictions, and regional cuisine choices—to generate tailored daily and weekly meal blueprints.</a:t>
            </a:r>
          </a:p>
          <a:p>
            <a:pPr lvl="0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Health Advisory Agent: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Evaluates specific medical conditions (such as diabetes, hypertension, or heart disease) to supply preventive dietary strategies and safe meal choices.</a:t>
            </a:r>
          </a:p>
          <a:p>
            <a:pPr lvl="0"/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Food Log &amp; Feedback Agent: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Parses text-based meal entries, calculates nutrient intake, and offers immediate feedback on diet quality.</a:t>
            </a:r>
          </a:p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The platform features a clean, responsive web interface designed with HTML5, CSS3, and JavaScript, backed by a lightweight Flask routing server (app.py). </a:t>
            </a:r>
            <a:r>
              <a:rPr lang="en-US" sz="17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 manages agent routing, while IBM watsonx.ai provides scalable, enterprise-grade AI inference. Together, these components form a complete end-to-end solution for automated, data-backed nutrition management.</a:t>
            </a:r>
          </a:p>
        </p:txBody>
      </p:sp>
    </p:spTree>
    <p:extLst>
      <p:ext uri="{BB962C8B-B14F-4D97-AF65-F5344CB8AC3E}">
        <p14:creationId xmlns:p14="http://schemas.microsoft.com/office/powerpoint/2010/main" val="105933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5C5403-1EA3-1E1D-FB88-55BF068B74EB}"/>
              </a:ext>
            </a:extLst>
          </p:cNvPr>
          <p:cNvSpPr txBox="1"/>
          <p:nvPr/>
        </p:nvSpPr>
        <p:spPr>
          <a:xfrm>
            <a:off x="414867" y="186267"/>
            <a:ext cx="3264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Technology Used 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9F7BCF-E0B2-F477-97E9-F1B5C941B53A}"/>
              </a:ext>
            </a:extLst>
          </p:cNvPr>
          <p:cNvSpPr txBox="1"/>
          <p:nvPr/>
        </p:nvSpPr>
        <p:spPr>
          <a:xfrm>
            <a:off x="296334" y="1054811"/>
            <a:ext cx="11389844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IBM Bob Platform &amp; VS Code: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Serves as the primary workspace environment and AI coding partner for scaffolding, refactoring, and orchestrating multi-agent project workflows using agentic modes.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IBM Granite Models (</a:t>
            </a: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ibm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/granite-3-8b-instruct):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Powers natural language understanding, reasoning, summarization, and intent routing across all specialized sub-agents.</a:t>
            </a:r>
          </a:p>
          <a:p>
            <a:pPr lvl="0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IBM watsonx.ai &amp; IBM Cloud: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Provides the enterprise foundation model execution, embeddings, API infrastructure, and secure deployment environment.</a:t>
            </a:r>
          </a:p>
          <a:p>
            <a:pPr lvl="0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Retrieval-Augmented Generation (RAG):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Integrates verified external nutritional data with the LLM to deliver reliable, accurate food insights grounded in facts rather than model hallucination.</a:t>
            </a:r>
          </a:p>
          <a:p>
            <a:pPr lvl="0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Vector Database (FAISS):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Stores high-dimensional vector embeddings of nutritional datasets to enable fast, accurate similarity search during RAG query retrieval.</a:t>
            </a:r>
          </a:p>
          <a:p>
            <a:pPr lvl="0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900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 Orchestration Framework: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Connects the IBM watsonx.ai Granite model with custom prompt templates and the local FAISS retriever to coordinate multi-agent logic.</a:t>
            </a:r>
          </a:p>
          <a:p>
            <a:pPr lvl="0"/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264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terminal window with various lines of text and commands, including an environment file (.env) with several key-value pairs, and a list of other file paths.&#10;&#10;AI-generated content may be incorrect.">
            <a:extLst>
              <a:ext uri="{FF2B5EF4-FFF2-40B4-BE49-F238E27FC236}">
                <a16:creationId xmlns:a16="http://schemas.microsoft.com/office/drawing/2014/main" id="{62D81384-81D9-EEC0-EF5D-DA4BEE7F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067" y="982133"/>
            <a:ext cx="8407400" cy="53763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572227-9943-12A4-B0E2-26B85410CE84}"/>
              </a:ext>
            </a:extLst>
          </p:cNvPr>
          <p:cNvSpPr txBox="1"/>
          <p:nvPr/>
        </p:nvSpPr>
        <p:spPr>
          <a:xfrm>
            <a:off x="313267" y="228601"/>
            <a:ext cx="5679760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Required Files created using IBM bob –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App.py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 Requirements.txt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Style.css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4. .env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5. Index.html</a:t>
            </a:r>
          </a:p>
        </p:txBody>
      </p:sp>
    </p:spTree>
    <p:extLst>
      <p:ext uri="{BB962C8B-B14F-4D97-AF65-F5344CB8AC3E}">
        <p14:creationId xmlns:p14="http://schemas.microsoft.com/office/powerpoint/2010/main" val="336664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3C9BF7-1CB2-474B-78D7-DD38945D4DC8}"/>
              </a:ext>
            </a:extLst>
          </p:cNvPr>
          <p:cNvSpPr txBox="1"/>
          <p:nvPr/>
        </p:nvSpPr>
        <p:spPr>
          <a:xfrm>
            <a:off x="313264" y="296333"/>
            <a:ext cx="5029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Project Verification &amp; System Diagnostics 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69B904-1868-DF1C-FF49-CCCF6A3E5918}"/>
              </a:ext>
            </a:extLst>
          </p:cNvPr>
          <p:cNvSpPr txBox="1"/>
          <p:nvPr/>
        </p:nvSpPr>
        <p:spPr>
          <a:xfrm>
            <a:off x="313264" y="1024467"/>
            <a:ext cx="557106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Automated System Verification: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Ran a full startup diagnostic script verifying system readiness prior to runtime deployment.</a:t>
            </a:r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Component Validation: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Confirmed configuration across all core modules: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FAISS RAG Pipeline: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Flask App Architecture: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Frontend Assets (index.html, style.css):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IBM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Credentials (API Key, Project ID):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Agent Initialization: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Validated environment configuration to launch all 4 specialized nutrition agents on port 5000.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The image displays a terminal window in Windows PowerShell, showing the successful execution of a command to remove a startup check file, followed by a message indicating the NutriBot application is running and ready to serve.&#10;&#10;AI-generated content may be incorrect.">
            <a:extLst>
              <a:ext uri="{FF2B5EF4-FFF2-40B4-BE49-F238E27FC236}">
                <a16:creationId xmlns:a16="http://schemas.microsoft.com/office/drawing/2014/main" id="{1B8F907F-A001-FC4C-0A07-EC90AB7D5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334" y="617224"/>
            <a:ext cx="5867402" cy="56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0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6C95FE-1B05-20E5-04C3-C0CEA360170D}"/>
              </a:ext>
            </a:extLst>
          </p:cNvPr>
          <p:cNvSpPr txBox="1"/>
          <p:nvPr/>
        </p:nvSpPr>
        <p:spPr>
          <a:xfrm>
            <a:off x="338667" y="254000"/>
            <a:ext cx="3433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IBM Bob Screenshots -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The image displays a black background with a terminal window open, showing a series of environment variables and configuration settings for a Python project.&#10;&#10;AI-generated content may be incorrect.">
            <a:extLst>
              <a:ext uri="{FF2B5EF4-FFF2-40B4-BE49-F238E27FC236}">
                <a16:creationId xmlns:a16="http://schemas.microsoft.com/office/drawing/2014/main" id="{A312FE49-4584-57E3-9029-9A22153CA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21266"/>
            <a:ext cx="10778067" cy="542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3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018A1-0EBD-2F33-AE82-4449D8808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19183"/>
            <a:ext cx="10058400" cy="5619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32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CB18E5-9786-ADC5-76F4-F24C6BBE352B}"/>
              </a:ext>
            </a:extLst>
          </p:cNvPr>
          <p:cNvSpPr txBox="1"/>
          <p:nvPr/>
        </p:nvSpPr>
        <p:spPr>
          <a:xfrm>
            <a:off x="592668" y="222834"/>
            <a:ext cx="4873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Role of Agentic AI in the solution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82B836-705F-356F-7F04-C152F3F75183}"/>
              </a:ext>
            </a:extLst>
          </p:cNvPr>
          <p:cNvSpPr txBox="1"/>
          <p:nvPr/>
        </p:nvSpPr>
        <p:spPr>
          <a:xfrm>
            <a:off x="592668" y="821267"/>
            <a:ext cx="5926665" cy="5813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90" b="1" dirty="0">
                <a:latin typeface="Arial" panose="020B0604020202020204" pitchFamily="34" charset="0"/>
                <a:cs typeface="Arial" panose="020B0604020202020204" pitchFamily="34" charset="0"/>
              </a:rPr>
              <a:t>Role of Agentic AI in </a:t>
            </a:r>
            <a:r>
              <a:rPr lang="en-US" sz="1690" b="1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endParaRPr lang="en-US" sz="169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90" dirty="0">
                <a:latin typeface="Arial" panose="020B0604020202020204" pitchFamily="34" charset="0"/>
                <a:cs typeface="Arial" panose="020B0604020202020204" pitchFamily="34" charset="0"/>
              </a:rPr>
              <a:t>Agentic AI transforms </a:t>
            </a:r>
            <a:r>
              <a:rPr lang="en-US" sz="1690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1690" dirty="0">
                <a:latin typeface="Arial" panose="020B0604020202020204" pitchFamily="34" charset="0"/>
                <a:cs typeface="Arial" panose="020B0604020202020204" pitchFamily="34" charset="0"/>
              </a:rPr>
              <a:t> from a static chatbot into an autonomous, task-oriented multi-agent ecosystem. Powered by IBM watsonx.ai and IBM Granite models, the framework coordinates four dedicated sub-agents to deliver precise, goal-driven nutritional assistance:</a:t>
            </a:r>
          </a:p>
          <a:p>
            <a:pPr lvl="0"/>
            <a:r>
              <a:rPr lang="en-US" sz="1690" b="1" dirty="0">
                <a:latin typeface="Arial" panose="020B0604020202020204" pitchFamily="34" charset="0"/>
                <a:cs typeface="Arial" panose="020B0604020202020204" pitchFamily="34" charset="0"/>
              </a:rPr>
              <a:t>Autonomous Task Delegation:</a:t>
            </a:r>
            <a:r>
              <a:rPr lang="en-US" sz="1690" dirty="0">
                <a:latin typeface="Arial" panose="020B0604020202020204" pitchFamily="34" charset="0"/>
                <a:cs typeface="Arial" panose="020B0604020202020204" pitchFamily="34" charset="0"/>
              </a:rPr>
              <a:t> Dynamically routes user requests to specialized agents Knowledge, Diet, Health, or Food Log ensuring queries are handled by domain-specific logic.</a:t>
            </a:r>
          </a:p>
          <a:p>
            <a:pPr lvl="0"/>
            <a:r>
              <a:rPr lang="en-US" sz="1690" b="1" dirty="0">
                <a:latin typeface="Arial" panose="020B0604020202020204" pitchFamily="34" charset="0"/>
                <a:cs typeface="Arial" panose="020B0604020202020204" pitchFamily="34" charset="0"/>
              </a:rPr>
              <a:t>Context-Aware Reasoning:</a:t>
            </a:r>
            <a:r>
              <a:rPr lang="en-US" sz="1690" dirty="0">
                <a:latin typeface="Arial" panose="020B0604020202020204" pitchFamily="34" charset="0"/>
                <a:cs typeface="Arial" panose="020B0604020202020204" pitchFamily="34" charset="0"/>
              </a:rPr>
              <a:t> Maintains individual user parameters (age, medical conditions, dietary preferences) across interactions to deliver personalized recommendations.</a:t>
            </a:r>
          </a:p>
          <a:p>
            <a:pPr lvl="0"/>
            <a:r>
              <a:rPr lang="en-US" sz="1690" b="1" dirty="0">
                <a:latin typeface="Arial" panose="020B0604020202020204" pitchFamily="34" charset="0"/>
                <a:cs typeface="Arial" panose="020B0604020202020204" pitchFamily="34" charset="0"/>
              </a:rPr>
              <a:t>Grounded Knowledge Retrieval:</a:t>
            </a:r>
            <a:r>
              <a:rPr lang="en-US" sz="1690" dirty="0">
                <a:latin typeface="Arial" panose="020B0604020202020204" pitchFamily="34" charset="0"/>
                <a:cs typeface="Arial" panose="020B0604020202020204" pitchFamily="34" charset="0"/>
              </a:rPr>
              <a:t> Combines agent execution with a FAISS vector search pipeline to fetch verified food data before generating responses, preventing factual hallucinations.</a:t>
            </a:r>
          </a:p>
          <a:p>
            <a:pPr lvl="0"/>
            <a:r>
              <a:rPr lang="en-US" sz="1690" b="1" dirty="0">
                <a:latin typeface="Arial" panose="020B0604020202020204" pitchFamily="34" charset="0"/>
                <a:cs typeface="Arial" panose="020B0604020202020204" pitchFamily="34" charset="0"/>
              </a:rPr>
              <a:t>Real-Time Adaptive Insights:</a:t>
            </a:r>
            <a:r>
              <a:rPr lang="en-US" sz="1690" dirty="0">
                <a:latin typeface="Arial" panose="020B0604020202020204" pitchFamily="34" charset="0"/>
                <a:cs typeface="Arial" panose="020B0604020202020204" pitchFamily="34" charset="0"/>
              </a:rPr>
              <a:t> Evaluates text-based meal entries and feedback in real time, continuously adjusting diet suggestions to align with the user's health goals.</a:t>
            </a:r>
          </a:p>
          <a:p>
            <a:endParaRPr lang="en-US" sz="169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0536A9-FFC2-346B-6FEA-3D0F1EA1A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474" y="821267"/>
            <a:ext cx="5031210" cy="5215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6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EA18D-A1AF-64EF-B66A-DD8DE2CE851F}"/>
              </a:ext>
            </a:extLst>
          </p:cNvPr>
          <p:cNvSpPr txBox="1"/>
          <p:nvPr/>
        </p:nvSpPr>
        <p:spPr>
          <a:xfrm>
            <a:off x="431799" y="203200"/>
            <a:ext cx="237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Token Usage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27B45-E6A6-E07A-B50D-24ACC9EF8E09}"/>
              </a:ext>
            </a:extLst>
          </p:cNvPr>
          <p:cNvSpPr txBox="1"/>
          <p:nvPr/>
        </p:nvSpPr>
        <p:spPr>
          <a:xfrm>
            <a:off x="431799" y="726420"/>
            <a:ext cx="37466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642 token are used (for one session)</a:t>
            </a:r>
          </a:p>
          <a:p>
            <a:endParaRPr lang="en-US" dirty="0"/>
          </a:p>
        </p:txBody>
      </p:sp>
      <p:pic>
        <p:nvPicPr>
          <p:cNvPr id="9" name="Picture 8" descr="A text display of a Python script running in a terminal, outputting a generated high-protein, 2000-calorie meal plan.&#10;&#10;AI-generated content may be incorrect.">
            <a:extLst>
              <a:ext uri="{FF2B5EF4-FFF2-40B4-BE49-F238E27FC236}">
                <a16:creationId xmlns:a16="http://schemas.microsoft.com/office/drawing/2014/main" id="{5C8F16D2-A34F-3E0A-1A1A-479EC3762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467" y="1168119"/>
            <a:ext cx="5313852" cy="4963461"/>
          </a:xfrm>
          <a:prstGeom prst="rect">
            <a:avLst/>
          </a:prstGeom>
        </p:spPr>
      </p:pic>
      <p:pic>
        <p:nvPicPr>
          <p:cNvPr id="11" name="Picture 10" descr="The image displays a terminal window in a software development environment (presumably Visual Studio Code) with a Python script running, outputting a message about the successful loading of a nutrition model and a request to generate a high-protein diet plan.&#10;&#10;AI-generated content may be incorrect.">
            <a:extLst>
              <a:ext uri="{FF2B5EF4-FFF2-40B4-BE49-F238E27FC236}">
                <a16:creationId xmlns:a16="http://schemas.microsoft.com/office/drawing/2014/main" id="{16FD0FC5-94D6-1407-2415-DBE0FB4CF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2" y="1168119"/>
            <a:ext cx="5313851" cy="496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36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14B9F-C7A7-FEE6-863D-D389D4C06896}"/>
              </a:ext>
            </a:extLst>
          </p:cNvPr>
          <p:cNvSpPr txBox="1"/>
          <p:nvPr/>
        </p:nvSpPr>
        <p:spPr>
          <a:xfrm>
            <a:off x="465667" y="287867"/>
            <a:ext cx="4067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Output Screenshot -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3D28C-35B6-6555-5617-E5D21F16A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9" y="931334"/>
            <a:ext cx="11065933" cy="540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29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e image displays a webpage with the NutriBot interface, featuring a chatbot offering various nutrition and dietary assistance options.&#10;&#10;AI-generated content may be incorrect.">
            <a:extLst>
              <a:ext uri="{FF2B5EF4-FFF2-40B4-BE49-F238E27FC236}">
                <a16:creationId xmlns:a16="http://schemas.microsoft.com/office/drawing/2014/main" id="{8B726AA2-09E4-A543-D942-3174CF15B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0" y="658706"/>
            <a:ext cx="10281920" cy="53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12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F6458E-7E53-8410-C884-AA06CB8F4219}"/>
              </a:ext>
            </a:extLst>
          </p:cNvPr>
          <p:cNvSpPr txBox="1"/>
          <p:nvPr/>
        </p:nvSpPr>
        <p:spPr>
          <a:xfrm>
            <a:off x="550333" y="55880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The image displays a user interface for NutriBot, an online chatbot providing nutrition advice, meal planning, and food tracking. It offers various agents for different dietary needs, and a high-protein 1-day Indian diet plan for weight loss is suggested.&#10;&#10;AI-generated content may be incorrect.">
            <a:extLst>
              <a:ext uri="{FF2B5EF4-FFF2-40B4-BE49-F238E27FC236}">
                <a16:creationId xmlns:a16="http://schemas.microsoft.com/office/drawing/2014/main" id="{65A0925E-211D-EB3E-6665-D42E4CB47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785" y="764117"/>
            <a:ext cx="9856430" cy="53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744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DD635-5D8B-E359-601C-DA93BCE4EDEF}"/>
              </a:ext>
            </a:extLst>
          </p:cNvPr>
          <p:cNvSpPr txBox="1"/>
          <p:nvPr/>
        </p:nvSpPr>
        <p:spPr>
          <a:xfrm>
            <a:off x="397933" y="355600"/>
            <a:ext cx="3712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Novelty and Uniqueness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7F39D5-FCF5-4D8B-16B9-522D3F48BA59}"/>
              </a:ext>
            </a:extLst>
          </p:cNvPr>
          <p:cNvSpPr txBox="1"/>
          <p:nvPr/>
        </p:nvSpPr>
        <p:spPr>
          <a:xfrm>
            <a:off x="397933" y="1151466"/>
            <a:ext cx="1081290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system differentiates itself by moving away from traditional, isolated chatbots and instead deploying a cohesive ecosystem tailored for modern nutrition tech.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Collaborative Agent Orchestration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Leverages four purpose-built backend agents in Flask that dynamically handle everything from RAG lookups to clinical-style health advice.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Grounded Local Knowledge Retrieval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Utilizes FAISS vector store chunks to feed verified macronutrient and dietary guidelines directly into the inference pipeline.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Dynamic Session Tracking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Implements persistent in-memory session logging that evaluates user food intake history in real time to generate rolling nutritional assessments.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Enterprise Foundation Model Integration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Directs all analytical and conversational tasks through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ibm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/granite-3-8b-instruct model via the official IBM watsonx.ai SDK.</a:t>
            </a:r>
          </a:p>
          <a:p>
            <a:pPr lvl="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architecture creates a responsive, highly targeted digital health assistant built explicitly for rigorous academic and professional submission standards.</a:t>
            </a:r>
          </a:p>
        </p:txBody>
      </p:sp>
    </p:spTree>
    <p:extLst>
      <p:ext uri="{BB962C8B-B14F-4D97-AF65-F5344CB8AC3E}">
        <p14:creationId xmlns:p14="http://schemas.microsoft.com/office/powerpoint/2010/main" val="3291923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65A113-3170-6F73-B5DC-ED833FBD5306}"/>
              </a:ext>
            </a:extLst>
          </p:cNvPr>
          <p:cNvSpPr txBox="1"/>
          <p:nvPr/>
        </p:nvSpPr>
        <p:spPr>
          <a:xfrm>
            <a:off x="558799" y="770467"/>
            <a:ext cx="989753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Git Hub Link – 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URL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https://github.com/Shravaniredekar/AI-Nutrition-Assistant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662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CEB301-30C9-65F3-590F-D974FA050D12}"/>
              </a:ext>
            </a:extLst>
          </p:cNvPr>
          <p:cNvSpPr txBox="1"/>
          <p:nvPr/>
        </p:nvSpPr>
        <p:spPr>
          <a:xfrm>
            <a:off x="457200" y="474133"/>
            <a:ext cx="2662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Future Scope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C3ED1-719A-680E-C51E-87C3DAC54AD1}"/>
              </a:ext>
            </a:extLst>
          </p:cNvPr>
          <p:cNvSpPr txBox="1"/>
          <p:nvPr/>
        </p:nvSpPr>
        <p:spPr>
          <a:xfrm>
            <a:off x="550333" y="1515533"/>
            <a:ext cx="104398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IoT &amp; Wearable Device Integration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Connecting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NutriBot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with smartwatches and fitness trackers to ingest real-time physiological metrics such as daily step counts, active calorie burn, heart rate, and sleep patterns, enabling the multi-agent system to adapt meal plans dynamically based on actual physical activity.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AI-Powered Voice &amp; Multilingual Accessibility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Expanding the Flask application with advanced voice AI and multilingual capabilities (supported by enterprise ecosystem integrations like IBM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watsonx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voice frameworks) to enable natural, conversational interactions across diverse regional languages and dialects.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Advanced Multi-Agent Orchestration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– Scaling the backend architecture to leverage deeper IBM watsonx.ai enterprise features and expanded vector stores for multi-condition clinical tracking and long-term health outcome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523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876F5C-EEA5-086C-CB0D-D21C6D459CEF}"/>
              </a:ext>
            </a:extLst>
          </p:cNvPr>
          <p:cNvSpPr txBox="1"/>
          <p:nvPr/>
        </p:nvSpPr>
        <p:spPr>
          <a:xfrm>
            <a:off x="482600" y="414867"/>
            <a:ext cx="2991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Certificates Earned -</a:t>
            </a:r>
          </a:p>
        </p:txBody>
      </p:sp>
      <p:pic>
        <p:nvPicPr>
          <p:cNvPr id="4" name="Picture 3" descr="Getting Started with Artificial Intelligence&#10;&#10;AI-generated content may be incorrect.">
            <a:extLst>
              <a:ext uri="{FF2B5EF4-FFF2-40B4-BE49-F238E27FC236}">
                <a16:creationId xmlns:a16="http://schemas.microsoft.com/office/drawing/2014/main" id="{7D14F5BE-87BC-8ADB-269C-FDE0EFE3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51" y="1131968"/>
            <a:ext cx="8392696" cy="52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14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roubleshoot Your Code Using IBM Bob&#10;&#10;AI-generated content may be incorrect.">
            <a:extLst>
              <a:ext uri="{FF2B5EF4-FFF2-40B4-BE49-F238E27FC236}">
                <a16:creationId xmlns:a16="http://schemas.microsoft.com/office/drawing/2014/main" id="{90065146-AC7F-CF78-2D1F-E5BB41E3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268" y="1049868"/>
            <a:ext cx="9144000" cy="528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E0F4BE-A353-CB16-DCFD-EA3005085F2B}"/>
              </a:ext>
            </a:extLst>
          </p:cNvPr>
          <p:cNvSpPr txBox="1"/>
          <p:nvPr/>
        </p:nvSpPr>
        <p:spPr>
          <a:xfrm>
            <a:off x="609599" y="524933"/>
            <a:ext cx="2991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Certificates Earned -</a:t>
            </a:r>
          </a:p>
        </p:txBody>
      </p:sp>
    </p:spTree>
    <p:extLst>
      <p:ext uri="{BB962C8B-B14F-4D97-AF65-F5344CB8AC3E}">
        <p14:creationId xmlns:p14="http://schemas.microsoft.com/office/powerpoint/2010/main" val="3604802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65B53-AE16-B31C-752A-BC0BF38CE542}"/>
              </a:ext>
            </a:extLst>
          </p:cNvPr>
          <p:cNvSpPr txBox="1"/>
          <p:nvPr/>
        </p:nvSpPr>
        <p:spPr>
          <a:xfrm>
            <a:off x="3205401" y="2071525"/>
            <a:ext cx="578119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/>
              <a:t>Thank You!</a:t>
            </a:r>
            <a:endParaRPr lang="en-US" sz="2800" dirty="0"/>
          </a:p>
          <a:p>
            <a:pPr algn="ctr"/>
            <a:r>
              <a:rPr lang="en-US" sz="2800" dirty="0"/>
              <a:t>Thank you for your time and interest.</a:t>
            </a:r>
          </a:p>
        </p:txBody>
      </p:sp>
    </p:spTree>
    <p:extLst>
      <p:ext uri="{BB962C8B-B14F-4D97-AF65-F5344CB8AC3E}">
        <p14:creationId xmlns:p14="http://schemas.microsoft.com/office/powerpoint/2010/main" val="2651879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1404</Words>
  <Application>Microsoft Office PowerPoint</Application>
  <PresentationFormat>Widescreen</PresentationFormat>
  <Paragraphs>105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redekarshravani3443@gmail.com</dc:creator>
  <cp:lastModifiedBy>redekarshravani3443@gmail.com</cp:lastModifiedBy>
  <cp:revision>2</cp:revision>
  <dcterms:created xsi:type="dcterms:W3CDTF">2026-09-11T18:29:46Z</dcterms:created>
  <dcterms:modified xsi:type="dcterms:W3CDTF">2026-09-11T22:45:47Z</dcterms:modified>
</cp:coreProperties>
</file>